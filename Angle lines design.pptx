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14"/>
  </p:notesMasterIdLst>
  <p:handoutMasterIdLst>
    <p:handoutMasterId r:id="rId15"/>
  </p:handoutMasterIdLst>
  <p:sldIdLst>
    <p:sldId id="289" r:id="rId5"/>
    <p:sldId id="288" r:id="rId6"/>
    <p:sldId id="276" r:id="rId7"/>
    <p:sldId id="283" r:id="rId8"/>
    <p:sldId id="261" r:id="rId9"/>
    <p:sldId id="257" r:id="rId10"/>
    <p:sldId id="264" r:id="rId11"/>
    <p:sldId id="263"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varScale="1">
        <p:scale>
          <a:sx n="59" d="100"/>
          <a:sy n="59" d="100"/>
        </p:scale>
        <p:origin x="964"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1/28/2026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465852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744047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4056528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3CF0EA4-D201-44E7-3558-D05CB4233ECE}"/>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A643EA3-ACAA-539C-A041-266A895A2B1C}"/>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81E18B-2347-8DB6-2A7F-3EAC100A412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215072" y="528320"/>
            <a:ext cx="5028566" cy="3354992"/>
          </a:xfrm>
        </p:spPr>
        <p:txBody>
          <a:bodyPr anchor="b">
            <a:noAutofit/>
          </a:bodyPr>
          <a:lstStyle>
            <a:lvl1pPr algn="l">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215072" y="4027992"/>
            <a:ext cx="5028565" cy="1894972"/>
          </a:xfrm>
        </p:spPr>
        <p:txBody>
          <a:bodyPr>
            <a:noAutofit/>
          </a:bodyPr>
          <a:lstStyle>
            <a:lvl1pPr marL="0" indent="0" algn="l">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7257326" y="-11576"/>
            <a:ext cx="4946249" cy="6903720"/>
          </a:xfrm>
          <a:custGeom>
            <a:avLst/>
            <a:gdLst>
              <a:gd name="connsiteX0" fmla="*/ 0 w 4977139"/>
              <a:gd name="connsiteY0" fmla="*/ 0 h 6858000"/>
              <a:gd name="connsiteX1" fmla="*/ 4977139 w 4977139"/>
              <a:gd name="connsiteY1" fmla="*/ 0 h 6858000"/>
              <a:gd name="connsiteX2" fmla="*/ 4977139 w 4977139"/>
              <a:gd name="connsiteY2" fmla="*/ 6858000 h 6858000"/>
              <a:gd name="connsiteX3" fmla="*/ 0 w 4977139"/>
              <a:gd name="connsiteY3" fmla="*/ 6858000 h 6858000"/>
              <a:gd name="connsiteX4" fmla="*/ 0 w 4977139"/>
              <a:gd name="connsiteY4" fmla="*/ 0 h 6858000"/>
              <a:gd name="connsiteX0" fmla="*/ 0 w 4977139"/>
              <a:gd name="connsiteY0" fmla="*/ 0 h 6892724"/>
              <a:gd name="connsiteX1" fmla="*/ 4977139 w 4977139"/>
              <a:gd name="connsiteY1" fmla="*/ 0 h 6892724"/>
              <a:gd name="connsiteX2" fmla="*/ 4977139 w 4977139"/>
              <a:gd name="connsiteY2" fmla="*/ 6858000 h 6892724"/>
              <a:gd name="connsiteX3" fmla="*/ 1863524 w 4977139"/>
              <a:gd name="connsiteY3" fmla="*/ 6892724 h 6892724"/>
              <a:gd name="connsiteX4" fmla="*/ 0 w 4977139"/>
              <a:gd name="connsiteY4" fmla="*/ 0 h 6892724"/>
              <a:gd name="connsiteX0" fmla="*/ 0 w 4977139"/>
              <a:gd name="connsiteY0" fmla="*/ 0 h 6892724"/>
              <a:gd name="connsiteX1" fmla="*/ 4977139 w 4977139"/>
              <a:gd name="connsiteY1" fmla="*/ 0 h 6892724"/>
              <a:gd name="connsiteX2" fmla="*/ 4977139 w 4977139"/>
              <a:gd name="connsiteY2" fmla="*/ 6892724 h 6892724"/>
              <a:gd name="connsiteX3" fmla="*/ 1863524 w 4977139"/>
              <a:gd name="connsiteY3" fmla="*/ 6892724 h 6892724"/>
              <a:gd name="connsiteX4" fmla="*/ 0 w 4977139"/>
              <a:gd name="connsiteY4" fmla="*/ 0 h 6892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7139" h="6892724">
                <a:moveTo>
                  <a:pt x="0" y="0"/>
                </a:moveTo>
                <a:lnTo>
                  <a:pt x="4977139" y="0"/>
                </a:lnTo>
                <a:lnTo>
                  <a:pt x="4977139" y="6892724"/>
                </a:lnTo>
                <a:lnTo>
                  <a:pt x="1863524" y="6892724"/>
                </a:lnTo>
                <a:lnTo>
                  <a:pt x="0"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2609378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7" name="Freeform 10">
            <a:extLst>
              <a:ext uri="{FF2B5EF4-FFF2-40B4-BE49-F238E27FC236}">
                <a16:creationId xmlns:a16="http://schemas.microsoft.com/office/drawing/2014/main" id="{C4293765-78A6-5206-26C2-E8817B2834F6}"/>
              </a:ext>
              <a:ext uri="{C183D7F6-B498-43B3-948B-1728B52AA6E4}">
                <adec:decorative xmlns:adec="http://schemas.microsoft.com/office/drawing/2017/decorative" val="1"/>
              </a:ext>
            </a:extLst>
          </p:cNvPr>
          <p:cNvSpPr/>
          <p:nvPr userDrawn="1"/>
        </p:nvSpPr>
        <p:spPr>
          <a:xfrm>
            <a:off x="0" y="0"/>
            <a:ext cx="7470792" cy="6858000"/>
          </a:xfrm>
          <a:custGeom>
            <a:avLst/>
            <a:gdLst>
              <a:gd name="connsiteX0" fmla="*/ 0 w 7470792"/>
              <a:gd name="connsiteY0" fmla="*/ 0 h 6858000"/>
              <a:gd name="connsiteX1" fmla="*/ 7470792 w 7470792"/>
              <a:gd name="connsiteY1" fmla="*/ 0 h 6858000"/>
              <a:gd name="connsiteX2" fmla="*/ 5633197 w 7470792"/>
              <a:gd name="connsiteY2" fmla="*/ 6858000 h 6858000"/>
              <a:gd name="connsiteX3" fmla="*/ 0 w 747079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470792" h="6858000">
                <a:moveTo>
                  <a:pt x="0" y="0"/>
                </a:moveTo>
                <a:lnTo>
                  <a:pt x="7470792" y="0"/>
                </a:lnTo>
                <a:lnTo>
                  <a:pt x="5633197" y="6858000"/>
                </a:lnTo>
                <a:lnTo>
                  <a:pt x="0" y="685800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cxnSp>
        <p:nvCxnSpPr>
          <p:cNvPr id="8" name="Straight Connector 7">
            <a:extLst>
              <a:ext uri="{FF2B5EF4-FFF2-40B4-BE49-F238E27FC236}">
                <a16:creationId xmlns:a16="http://schemas.microsoft.com/office/drawing/2014/main" id="{BB4E351F-7451-86A3-5271-0D00B9EFA662}"/>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860223-A40E-30ED-6832-0825A930BB67}"/>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B6907E-F17B-783E-D454-DFC62D0977A0}"/>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B12211-7E94-9534-6F2D-2AFD2EBE36F0}"/>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6580245-E985-EC3F-9385-D0F517F0C151}"/>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A82A3-E3DF-978F-4BD7-10E0F1075B64}"/>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EDC40AE-D1CB-7535-22E2-E6D910FB8229}"/>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685800"/>
            <a:ext cx="9144000" cy="3136738"/>
          </a:xfrm>
        </p:spPr>
        <p:txBody>
          <a:bodyPr anchor="b">
            <a:noAutofit/>
          </a:bodyPr>
          <a:lstStyle>
            <a:lvl1pPr algn="ctr">
              <a:defRPr sz="4400">
                <a:solidFill>
                  <a:schemeClr val="accent6"/>
                </a:solidFill>
              </a:defRPr>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978800"/>
            <a:ext cx="9144000" cy="1965960"/>
          </a:xfrm>
        </p:spPr>
        <p:txBody>
          <a:bodyPr>
            <a:noAutofit/>
          </a:bodyPr>
          <a:lstStyle>
            <a:lvl1pPr marL="0" indent="0" algn="ctr">
              <a:buNone/>
              <a:defRPr sz="1800" b="1"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535595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1/28/2026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1/28/2026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7" r:id="rId19"/>
    <p:sldLayoutId id="2147483691" r:id="rId20"/>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p:txBody>
          <a:bodyPr/>
          <a:lstStyle/>
          <a:p>
            <a:br>
              <a:rPr lang="en-US" dirty="0"/>
            </a:br>
            <a:r>
              <a:rPr lang="en-US" dirty="0"/>
              <a:t>case studies of partnership</a:t>
            </a:r>
          </a:p>
        </p:txBody>
      </p:sp>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p:pic>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noFill/>
        </p:spPr>
        <p:txBody>
          <a:bodyPr anchor="ctr">
            <a:normAutofit/>
          </a:bodyPr>
          <a:lstStyle/>
          <a:p>
            <a:r>
              <a:rPr lang="en-US" dirty="0"/>
              <a:t>Introduction</a:t>
            </a:r>
          </a:p>
          <a:p>
            <a:r>
              <a:rPr lang="en-US" dirty="0"/>
              <a:t>Terms of partnership</a:t>
            </a:r>
          </a:p>
          <a:p>
            <a:r>
              <a:rPr lang="en-US" dirty="0"/>
              <a:t>Business operations</a:t>
            </a:r>
          </a:p>
          <a:p>
            <a:r>
              <a:rPr lang="en-US" dirty="0"/>
              <a:t>Problems faced</a:t>
            </a:r>
          </a:p>
          <a:p>
            <a:r>
              <a:rPr lang="en-US" dirty="0"/>
              <a:t>dissolution</a:t>
            </a:r>
          </a:p>
          <a:p>
            <a:r>
              <a:rPr lang="en-US" dirty="0" err="1"/>
              <a:t>conclustion</a:t>
            </a:r>
            <a:endParaRPr lang="en-US" dirty="0"/>
          </a:p>
        </p:txBody>
      </p:sp>
      <p:pic>
        <p:nvPicPr>
          <p:cNvPr id="25" name="Picture Placeholder 6" descr="A city skyline">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8" r="38"/>
          <a:stretch/>
        </p:blipFill>
        <p:spPr/>
      </p:pic>
    </p:spTree>
    <p:extLst>
      <p:ext uri="{BB962C8B-B14F-4D97-AF65-F5344CB8AC3E}">
        <p14:creationId xmlns:p14="http://schemas.microsoft.com/office/powerpoint/2010/main" val="1038351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noFill/>
        </p:spPr>
        <p:txBody>
          <a:bodyPr anchor="b"/>
          <a:lstStyle/>
          <a:p>
            <a:r>
              <a:rPr lang="en-US" dirty="0"/>
              <a:t>Case study: </a:t>
            </a:r>
            <a:r>
              <a:rPr lang="en-US" dirty="0" err="1"/>
              <a:t>partnershipfirm-sri</a:t>
            </a:r>
            <a:r>
              <a:rPr lang="en-US" dirty="0"/>
              <a:t> </a:t>
            </a:r>
            <a:r>
              <a:rPr lang="en-US" dirty="0" err="1"/>
              <a:t>vignesh</a:t>
            </a:r>
            <a:r>
              <a:rPr lang="en-US" dirty="0"/>
              <a:t> traders</a:t>
            </a:r>
          </a:p>
        </p:txBody>
      </p:sp>
      <p:pic>
        <p:nvPicPr>
          <p:cNvPr id="17" name="Picture Placeholder 16" descr="A city with tall buildings">
            <a:extLst>
              <a:ext uri="{FF2B5EF4-FFF2-40B4-BE49-F238E27FC236}">
                <a16:creationId xmlns:a16="http://schemas.microsoft.com/office/drawing/2014/main" id="{4D6EE8D1-247A-B95F-BD1A-A2D76964CF3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 r="13"/>
          <a:stretch/>
        </p:blipFill>
        <p:spPr/>
      </p:pic>
    </p:spTree>
    <p:extLst>
      <p:ext uri="{BB962C8B-B14F-4D97-AF65-F5344CB8AC3E}">
        <p14:creationId xmlns:p14="http://schemas.microsoft.com/office/powerpoint/2010/main" val="821088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1215072" y="2996472"/>
            <a:ext cx="5028565" cy="2926492"/>
          </a:xfrm>
          <a:noFill/>
        </p:spPr>
        <p:txBody>
          <a:bodyPr anchor="t"/>
          <a:lstStyle/>
          <a:p>
            <a:r>
              <a:rPr lang="en-US" dirty="0"/>
              <a:t>M</a:t>
            </a:r>
            <a:r>
              <a:rPr lang="en-US" cap="none" dirty="0"/>
              <a:t>r</a:t>
            </a:r>
            <a:r>
              <a:rPr lang="en-US" dirty="0"/>
              <a:t>. </a:t>
            </a:r>
            <a:r>
              <a:rPr lang="en-US" cap="none" dirty="0"/>
              <a:t>Arun and Mr. Balan are friends who decided to start a wholesale grocery business in Coimbatore under the name Shree Vignesh traders. They entered into a partnership </a:t>
            </a:r>
            <a:r>
              <a:rPr lang="en-US" cap="none" dirty="0" err="1"/>
              <a:t>angreement</a:t>
            </a:r>
            <a:r>
              <a:rPr lang="en-US" cap="none" dirty="0"/>
              <a:t> on 1</a:t>
            </a:r>
            <a:r>
              <a:rPr lang="en-US" cap="none" baseline="30000" dirty="0"/>
              <a:t>st</a:t>
            </a:r>
            <a:r>
              <a:rPr lang="en-US" cap="none" dirty="0"/>
              <a:t> </a:t>
            </a:r>
            <a:r>
              <a:rPr lang="en-US" cap="none" dirty="0" err="1"/>
              <a:t>april</a:t>
            </a:r>
            <a:r>
              <a:rPr lang="en-US" cap="none" dirty="0"/>
              <a:t> 2022 to run the business jointly.</a:t>
            </a:r>
          </a:p>
          <a:p>
            <a:r>
              <a:rPr lang="en-US" cap="none" dirty="0"/>
              <a:t>CAPITAL CONTRIBUTION</a:t>
            </a:r>
          </a:p>
          <a:p>
            <a:r>
              <a:rPr lang="en-US" cap="none" dirty="0"/>
              <a:t>Mr. Arun contributed </a:t>
            </a:r>
            <a:r>
              <a:rPr lang="en-IN" b="0" dirty="0"/>
              <a:t> </a:t>
            </a:r>
            <a:r>
              <a:rPr lang="en-IN" dirty="0"/>
              <a:t>₹5,00,000</a:t>
            </a:r>
          </a:p>
          <a:p>
            <a:r>
              <a:rPr lang="en-IN" dirty="0"/>
              <a:t>M</a:t>
            </a:r>
            <a:r>
              <a:rPr lang="en-IN" sz="2000" cap="none" dirty="0"/>
              <a:t>r</a:t>
            </a:r>
            <a:r>
              <a:rPr lang="en-IN" dirty="0"/>
              <a:t>. </a:t>
            </a:r>
            <a:r>
              <a:rPr lang="en-IN" cap="none" dirty="0"/>
              <a:t>Balan contributed</a:t>
            </a:r>
            <a:r>
              <a:rPr lang="en-IN" b="0" dirty="0"/>
              <a:t> </a:t>
            </a:r>
            <a:r>
              <a:rPr lang="en-IN" dirty="0"/>
              <a:t>₹</a:t>
            </a:r>
            <a:r>
              <a:rPr lang="en-IN" cap="none" dirty="0"/>
              <a:t>3,00,000</a:t>
            </a:r>
            <a:endParaRPr lang="en-IN" dirty="0"/>
          </a:p>
          <a:p>
            <a:endParaRPr lang="en-US" dirty="0"/>
          </a:p>
        </p:txBody>
      </p:sp>
      <p:pic>
        <p:nvPicPr>
          <p:cNvPr id="43" name="Picture Placeholder 42" descr="A plane flying over a city">
            <a:extLst>
              <a:ext uri="{FF2B5EF4-FFF2-40B4-BE49-F238E27FC236}">
                <a16:creationId xmlns:a16="http://schemas.microsoft.com/office/drawing/2014/main" id="{9100BC91-12A3-DE75-3F38-9C17D39DC5E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39" r="39"/>
          <a:stretch/>
        </p:blipFill>
        <p:spPr/>
      </p:pic>
      <p:sp>
        <p:nvSpPr>
          <p:cNvPr id="6" name="TextBox 5">
            <a:extLst>
              <a:ext uri="{FF2B5EF4-FFF2-40B4-BE49-F238E27FC236}">
                <a16:creationId xmlns:a16="http://schemas.microsoft.com/office/drawing/2014/main" id="{EF49ED8C-D64A-ADDB-C552-B162A944A06A}"/>
              </a:ext>
            </a:extLst>
          </p:cNvPr>
          <p:cNvSpPr txBox="1"/>
          <p:nvPr/>
        </p:nvSpPr>
        <p:spPr>
          <a:xfrm>
            <a:off x="2068286" y="1796143"/>
            <a:ext cx="5409565" cy="1200329"/>
          </a:xfrm>
          <a:prstGeom prst="rect">
            <a:avLst/>
          </a:prstGeom>
          <a:noFill/>
        </p:spPr>
        <p:txBody>
          <a:bodyPr wrap="square" rtlCol="0">
            <a:spAutoFit/>
          </a:bodyPr>
          <a:lstStyle/>
          <a:p>
            <a:r>
              <a:rPr lang="en-US" sz="3600" b="1" dirty="0"/>
              <a:t>CASE STUDY:PARTNERSHIP FIRM SRI VIGNESH TRADERS</a:t>
            </a:r>
            <a:endParaRPr lang="en-IN" sz="3600" b="1" dirty="0"/>
          </a:p>
        </p:txBody>
      </p:sp>
    </p:spTree>
    <p:extLst>
      <p:ext uri="{BB962C8B-B14F-4D97-AF65-F5344CB8AC3E}">
        <p14:creationId xmlns:p14="http://schemas.microsoft.com/office/powerpoint/2010/main" val="4242039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noFill/>
        </p:spPr>
        <p:txBody>
          <a:bodyPr/>
          <a:lstStyle/>
          <a:p>
            <a:r>
              <a:rPr lang="en-US" dirty="0"/>
              <a:t>BUSINESS OPERATIONS</a:t>
            </a:r>
          </a:p>
        </p:txBody>
      </p:sp>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sp>
        <p:nvSpPr>
          <p:cNvPr id="3" name="Content Placeholder 2">
            <a:extLst>
              <a:ext uri="{FF2B5EF4-FFF2-40B4-BE49-F238E27FC236}">
                <a16:creationId xmlns:a16="http://schemas.microsoft.com/office/drawing/2014/main" id="{A6A33159-D030-2F82-A142-F75940728319}"/>
              </a:ext>
            </a:extLst>
          </p:cNvPr>
          <p:cNvSpPr>
            <a:spLocks noGrp="1"/>
          </p:cNvSpPr>
          <p:nvPr>
            <p:ph sz="half" idx="2"/>
          </p:nvPr>
        </p:nvSpPr>
        <p:spPr>
          <a:noFill/>
        </p:spPr>
        <p:txBody>
          <a:bodyPr vert="horz" lIns="91440" tIns="45720" rIns="91440" bIns="45720" rtlCol="0" anchor="t">
            <a:normAutofit/>
          </a:bodyPr>
          <a:lstStyle/>
          <a:p>
            <a:pPr marL="0" indent="0">
              <a:buNone/>
            </a:pPr>
            <a:endParaRPr lang="en-US" dirty="0"/>
          </a:p>
          <a:p>
            <a:r>
              <a:rPr lang="en-US" sz="2400" dirty="0"/>
              <a:t>Sri Vignesh Traders purchases grocery items directly from manufacturers and sells them to retailers. The firm quickly gained customers due to reasonable pricing and good credit facilities. Both partners participate in decision-making, but day-to-day operations are managed by Mr. Arun</a:t>
            </a:r>
          </a:p>
          <a:p>
            <a:endParaRPr lang="en-US" dirty="0"/>
          </a:p>
        </p:txBody>
      </p:sp>
    </p:spTree>
    <p:extLst>
      <p:ext uri="{BB962C8B-B14F-4D97-AF65-F5344CB8AC3E}">
        <p14:creationId xmlns:p14="http://schemas.microsoft.com/office/powerpoint/2010/main" val="3666674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noFill/>
        </p:spPr>
        <p:txBody>
          <a:bodyPr/>
          <a:lstStyle/>
          <a:p>
            <a:r>
              <a:rPr lang="en-US" dirty="0"/>
              <a:t>PROBLEMS FACED</a:t>
            </a:r>
          </a:p>
        </p:txBody>
      </p:sp>
      <p:sp>
        <p:nvSpPr>
          <p:cNvPr id="3" name="Subtitle 2">
            <a:extLst>
              <a:ext uri="{FF2B5EF4-FFF2-40B4-BE49-F238E27FC236}">
                <a16:creationId xmlns:a16="http://schemas.microsoft.com/office/drawing/2014/main" id="{FEECEBD4-35BF-26BB-D438-DA43EBD5EE89}"/>
              </a:ext>
            </a:extLst>
          </p:cNvPr>
          <p:cNvSpPr>
            <a:spLocks noGrp="1"/>
          </p:cNvSpPr>
          <p:nvPr>
            <p:ph type="subTitle" idx="1"/>
          </p:nvPr>
        </p:nvSpPr>
        <p:spPr>
          <a:noFill/>
        </p:spPr>
        <p:txBody>
          <a:bodyPr/>
          <a:lstStyle/>
          <a:p>
            <a:r>
              <a:rPr lang="en-US" sz="2400" dirty="0"/>
              <a:t>After two years, differences arose between the partners regarding expansion of the business. Mr. Balan wanted to invest more capital and open a new branch, while Mr. Arun preferred stable growth. Due to continuous disagreements, they decided to dissolve the partnership with mutual consent.</a:t>
            </a:r>
          </a:p>
          <a:p>
            <a:endParaRPr lang="en-US" dirty="0"/>
          </a:p>
        </p:txBody>
      </p:sp>
    </p:spTree>
    <p:extLst>
      <p:ext uri="{BB962C8B-B14F-4D97-AF65-F5344CB8AC3E}">
        <p14:creationId xmlns:p14="http://schemas.microsoft.com/office/powerpoint/2010/main" val="435195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noFill/>
        </p:spPr>
        <p:txBody>
          <a:bodyPr/>
          <a:lstStyle/>
          <a:p>
            <a:r>
              <a:rPr lang="en-US" dirty="0"/>
              <a:t>DISOLUTION</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4"/>
          </p:nvPr>
        </p:nvSpPr>
        <p:spPr>
          <a:solidFill>
            <a:schemeClr val="bg1"/>
          </a:solidFill>
        </p:spPr>
        <p:txBody>
          <a:bodyPr>
            <a:normAutofit/>
          </a:bodyPr>
          <a:lstStyle/>
          <a:p>
            <a:r>
              <a:rPr lang="en-US" sz="2400" dirty="0"/>
              <a:t>At the time of dissolution:</a:t>
            </a:r>
          </a:p>
          <a:p>
            <a:r>
              <a:rPr lang="en-US" sz="2400" dirty="0"/>
              <a:t>Assets were sold</a:t>
            </a:r>
          </a:p>
          <a:p>
            <a:r>
              <a:rPr lang="en-US" sz="2400" dirty="0"/>
              <a:t>Liabilities were paid</a:t>
            </a:r>
          </a:p>
          <a:p>
            <a:r>
              <a:rPr lang="en-US" sz="2400" dirty="0"/>
              <a:t>Remaining profits were distributed according to the profit-sharing ratio</a:t>
            </a:r>
          </a:p>
          <a:p>
            <a:r>
              <a:rPr lang="en-US" sz="2400" dirty="0"/>
              <a:t>The firm was dissolved smoothly as the partnership deed clearly mentioned rules for dissolution.</a:t>
            </a:r>
          </a:p>
          <a:p>
            <a:endParaRPr lang="en-US" dirty="0"/>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3"/>
          </p:nvPr>
        </p:nvSpPr>
        <p:spPr>
          <a:solidFill>
            <a:schemeClr val="bg1"/>
          </a:solidFill>
        </p:spPr>
        <p:txBody>
          <a:bodyPr>
            <a:normAutofit/>
          </a:bodyPr>
          <a:lstStyle/>
          <a:p>
            <a:endParaRPr lang="en-US" dirty="0"/>
          </a:p>
        </p:txBody>
      </p:sp>
    </p:spTree>
    <p:extLst>
      <p:ext uri="{BB962C8B-B14F-4D97-AF65-F5344CB8AC3E}">
        <p14:creationId xmlns:p14="http://schemas.microsoft.com/office/powerpoint/2010/main" val="837402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noFill/>
        </p:spPr>
        <p:txBody>
          <a:bodyPr/>
          <a:lstStyle/>
          <a:p>
            <a:r>
              <a:rPr lang="en-US" dirty="0"/>
              <a:t>CONCLUSION</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noFill/>
        </p:spPr>
        <p:txBody>
          <a:bodyPr vert="horz" lIns="91440" tIns="45720" rIns="91440" bIns="45720" rtlCol="0" anchor="t">
            <a:normAutofit/>
          </a:bodyPr>
          <a:lstStyle/>
          <a:p>
            <a:endParaRPr lang="en-US" dirty="0"/>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p:pic>
      <p:sp>
        <p:nvSpPr>
          <p:cNvPr id="5" name="TextBox 4">
            <a:extLst>
              <a:ext uri="{FF2B5EF4-FFF2-40B4-BE49-F238E27FC236}">
                <a16:creationId xmlns:a16="http://schemas.microsoft.com/office/drawing/2014/main" id="{6DC229D6-6EE0-62A8-4F25-777F4B50531F}"/>
              </a:ext>
            </a:extLst>
          </p:cNvPr>
          <p:cNvSpPr txBox="1"/>
          <p:nvPr/>
        </p:nvSpPr>
        <p:spPr>
          <a:xfrm>
            <a:off x="838199" y="2721428"/>
            <a:ext cx="5627915" cy="2308324"/>
          </a:xfrm>
          <a:prstGeom prst="rect">
            <a:avLst/>
          </a:prstGeom>
          <a:noFill/>
        </p:spPr>
        <p:txBody>
          <a:bodyPr wrap="square">
            <a:spAutoFit/>
          </a:bodyPr>
          <a:lstStyle/>
          <a:p>
            <a:r>
              <a:rPr lang="en-US" sz="2400" dirty="0"/>
              <a:t>This case study highlights the features of partnership such as mutual agreement, sharing of profits, joint management, and dissolution by mutual consent. It also shows the importance of a well-drafted partnership deed to avoid conflicts and ensure smooth functioning.</a:t>
            </a:r>
            <a:endParaRPr lang="en-IN" sz="2400" dirty="0"/>
          </a:p>
        </p:txBody>
      </p:sp>
    </p:spTree>
    <p:extLst>
      <p:ext uri="{BB962C8B-B14F-4D97-AF65-F5344CB8AC3E}">
        <p14:creationId xmlns:p14="http://schemas.microsoft.com/office/powerpoint/2010/main" val="2737241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noFill/>
        </p:spPr>
        <p:txBody>
          <a:bodyPr anchor="t">
            <a:normAutofit/>
          </a:bodyPr>
          <a:lstStyle/>
          <a:p>
            <a:r>
              <a:rPr lang="en-US" dirty="0"/>
              <a:t>GOUSALYA M</a:t>
            </a:r>
          </a:p>
          <a:p>
            <a:r>
              <a:rPr lang="en-US" dirty="0"/>
              <a:t>24UCC074</a:t>
            </a:r>
          </a:p>
          <a:p>
            <a:r>
              <a:rPr lang="en-US" dirty="0"/>
              <a:t>II B COM CA</a:t>
            </a:r>
          </a:p>
          <a:p>
            <a:endParaRPr lang="en-US" dirty="0"/>
          </a:p>
        </p:txBody>
      </p: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3.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{40B70F84-856D-41DD-970D-1B0DF34A78B2}TF020710ce-b2a3-4743-8ec4-0abcd2574951ef9f6aa4_win32-415a623b9e9a</Template>
  <TotalTime>40</TotalTime>
  <Words>286</Words>
  <Application>Microsoft Office PowerPoint</Application>
  <PresentationFormat>Widescreen</PresentationFormat>
  <Paragraphs>40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Univers Condensed Light</vt:lpstr>
      <vt:lpstr>Walbaum Display Light</vt:lpstr>
      <vt:lpstr>AngleLinesVTI</vt:lpstr>
      <vt:lpstr> case studies of partnership</vt:lpstr>
      <vt:lpstr>AGENDA</vt:lpstr>
      <vt:lpstr>Case study: partnershipfirm-sri vignesh traders</vt:lpstr>
      <vt:lpstr>PowerPoint Presentation</vt:lpstr>
      <vt:lpstr>BUSINESS OPERATIONS</vt:lpstr>
      <vt:lpstr>PROBLEMS FACED</vt:lpstr>
      <vt:lpstr>DISOLUTION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 Dhana Lakshmi (Cognizant)</dc:creator>
  <cp:lastModifiedBy>P, Dhana Lakshmi (Cognizant)</cp:lastModifiedBy>
  <cp:revision>1</cp:revision>
  <dcterms:created xsi:type="dcterms:W3CDTF">2026-01-28T17:48:45Z</dcterms:created>
  <dcterms:modified xsi:type="dcterms:W3CDTF">2026-01-28T18:28:59Z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